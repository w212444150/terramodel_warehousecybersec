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rial"/>
              </a:defRPr>
            </a:pPr>
            <a:r>
              <a:t>Cybersecurity in AI-Powered</a:t>
            </a:r>
            <a:br/>
            <a:r>
              <a:t>Warehouse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3063240"/>
            <a:ext cx="9875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D7DCE1"/>
                </a:solidFill>
                <a:latin typeface="Arial"/>
              </a:defRPr>
            </a:pPr>
            <a:r>
              <a:t>Project Proposal – Initial Advance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5074920"/>
            <a:ext cx="9875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rial"/>
              </a:defRPr>
            </a:pPr>
            <a:r>
              <a:t>Focus: Protect robots, PLCs, sensors and warehouse operations from cyber threats.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D3A"/>
                </a:solidFill>
                <a:latin typeface="Arial"/>
              </a:defRPr>
            </a:pPr>
            <a:r>
              <a:t>1. Problem We Want to Solve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601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626C"/>
                </a:solidFill>
                <a:latin typeface="Arial"/>
              </a:defRPr>
            </a:pPr>
            <a:r>
              <a:t>Cybersecurity risks in an automated warehouse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3429000" cy="4343400"/>
          </a:xfrm>
          <a:prstGeom prst="roundRect">
            <a:avLst/>
          </a:prstGeom>
          <a:solidFill>
            <a:srgbClr val="F5F6F8"/>
          </a:solidFill>
          <a:ln>
            <a:solidFill>
              <a:srgbClr val="D7D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581912"/>
            <a:ext cx="3063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32D3A"/>
                </a:solidFill>
                <a:latin typeface="Arial"/>
              </a:defRPr>
            </a:pPr>
            <a:r>
              <a:t>OT Blind Spots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075688"/>
            <a:ext cx="30632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D3A"/>
                </a:solidFill>
                <a:latin typeface="Arial"/>
              </a:defRPr>
            </a:pPr>
            <a:r>
              <a:t>Traditional IT security may not continuously monitor robots, PLCs and industrial sensors.</a:t>
            </a:r>
            <a:br/>
            <a:br/>
            <a:r>
              <a:t>An attacker can remain unnoticed until the operation is disrupted.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17320"/>
            <a:ext cx="3429000" cy="4343400"/>
          </a:xfrm>
          <a:prstGeom prst="roundRect">
            <a:avLst/>
          </a:prstGeom>
          <a:solidFill>
            <a:srgbClr val="F5F6F8"/>
          </a:solidFill>
          <a:ln>
            <a:solidFill>
              <a:srgbClr val="D7D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0288" y="1581912"/>
            <a:ext cx="3063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32D3A"/>
                </a:solidFill>
                <a:latin typeface="Arial"/>
              </a:defRPr>
            </a:pPr>
            <a:r>
              <a:t>Unknown Vulnerabilities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0288" y="2075688"/>
            <a:ext cx="30632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D3A"/>
                </a:solidFill>
                <a:latin typeface="Arial"/>
              </a:defRPr>
            </a:pPr>
            <a:r>
              <a:t>Automation may have default passwords, open remote access, missing patches or poor network segmentation.</a:t>
            </a:r>
            <a:br/>
            <a:br/>
            <a:r>
              <a:t>These weaknesses can remain open until an attacker finds them.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417320"/>
            <a:ext cx="3429000" cy="4343400"/>
          </a:xfrm>
          <a:prstGeom prst="roundRect">
            <a:avLst/>
          </a:prstGeom>
          <a:solidFill>
            <a:srgbClr val="F5F6F8"/>
          </a:solidFill>
          <a:ln>
            <a:solidFill>
              <a:srgbClr val="D7D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47888" y="1581912"/>
            <a:ext cx="3063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32D3A"/>
                </a:solidFill>
                <a:latin typeface="Arial"/>
              </a:defRPr>
            </a:pPr>
            <a:r>
              <a:t>Physical Safety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47888" y="2075688"/>
            <a:ext cx="30632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D3A"/>
                </a:solidFill>
                <a:latin typeface="Arial"/>
              </a:defRPr>
            </a:pPr>
            <a:r>
              <a:t>A compromised robot can receive a manipulated command or leave its safe path.</a:t>
            </a:r>
            <a:br/>
            <a:br/>
            <a:r>
              <a:t>A cyberattack can therefore become an operational and worker-safety problem.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47395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26C"/>
                </a:solidFill>
                <a:latin typeface="Arial"/>
              </a:defRPr>
            </a:pPr>
            <a:r>
              <a:t>AI Warehouse Automation – Cybersecurity Project    |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D3A"/>
                </a:solidFill>
                <a:latin typeface="Arial"/>
              </a:defRPr>
            </a:pPr>
            <a:r>
              <a:t>2. 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601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626C"/>
                </a:solidFill>
                <a:latin typeface="Arial"/>
              </a:defRPr>
            </a:pPr>
            <a:r>
              <a:t>Three AI agents working together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429000" cy="4526280"/>
          </a:xfrm>
          <a:prstGeom prst="roundRect">
            <a:avLst/>
          </a:prstGeom>
          <a:solidFill>
            <a:srgbClr val="F5F6F8"/>
          </a:solidFill>
          <a:ln>
            <a:solidFill>
              <a:srgbClr val="D7D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536192"/>
            <a:ext cx="3063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32D3A"/>
                </a:solidFill>
                <a:latin typeface="Arial"/>
              </a:defRPr>
            </a:pPr>
            <a:r>
              <a:t>Agent 1 – OT Anomaly Detection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029967"/>
            <a:ext cx="306324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D3A"/>
                </a:solidFill>
                <a:latin typeface="Arial"/>
              </a:defRPr>
            </a:pPr>
            <a:r>
              <a:t>Monitors activity in the operational technology network.</a:t>
            </a:r>
            <a:br/>
            <a:br/>
            <a:r>
              <a:t>Detects unusual behavior involving robots, PLCs and sensors.</a:t>
            </a:r>
            <a:br/>
            <a:br/>
            <a:r>
              <a:t>Goal: identify an attack while it is happening.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71600"/>
            <a:ext cx="3429000" cy="4526280"/>
          </a:xfrm>
          <a:prstGeom prst="roundRect">
            <a:avLst/>
          </a:prstGeom>
          <a:solidFill>
            <a:srgbClr val="F5F6F8"/>
          </a:solidFill>
          <a:ln>
            <a:solidFill>
              <a:srgbClr val="D7D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0288" y="1536192"/>
            <a:ext cx="3063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32D3A"/>
                </a:solidFill>
                <a:latin typeface="Arial"/>
              </a:defRPr>
            </a:pPr>
            <a:r>
              <a:t>Agent 2 – Assessment / Hardening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0288" y="2029967"/>
            <a:ext cx="306324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D3A"/>
                </a:solidFill>
                <a:latin typeface="Arial"/>
              </a:defRPr>
            </a:pPr>
            <a:r>
              <a:t>Finds security weaknesses in the warehouse environment.</a:t>
            </a:r>
            <a:br/>
            <a:br/>
            <a:r>
              <a:t>Creates a ranked list of recommended fixes.</a:t>
            </a:r>
            <a:br/>
            <a:br/>
            <a:r>
              <a:t>Goal: reduce exposure before an attacker exploits 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371600"/>
            <a:ext cx="3429000" cy="4526280"/>
          </a:xfrm>
          <a:prstGeom prst="roundRect">
            <a:avLst/>
          </a:prstGeom>
          <a:solidFill>
            <a:srgbClr val="F5F6F8"/>
          </a:solidFill>
          <a:ln>
            <a:solidFill>
              <a:srgbClr val="D7D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47888" y="1536192"/>
            <a:ext cx="3063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32D3A"/>
                </a:solidFill>
                <a:latin typeface="Arial"/>
              </a:defRPr>
            </a:pPr>
            <a:r>
              <a:t>Agent 3 – Robot Integrity Monitor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47888" y="2029967"/>
            <a:ext cx="306324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D3A"/>
                </a:solidFill>
                <a:latin typeface="Arial"/>
              </a:defRPr>
            </a:pPr>
            <a:r>
              <a:t>Checks robot commands and actual movement.</a:t>
            </a:r>
            <a:br/>
            <a:br/>
            <a:r>
              <a:t>Detects spoofed commands or unsafe deviations.</a:t>
            </a:r>
            <a:br/>
            <a:br/>
            <a:r>
              <a:t>Goal: protect workers, equipment and inventory.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47395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26C"/>
                </a:solidFill>
                <a:latin typeface="Arial"/>
              </a:defRPr>
            </a:pPr>
            <a:r>
              <a:t>AI Warehouse Automation – Cybersecurity Project    |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D3A"/>
                </a:solidFill>
                <a:latin typeface="Arial"/>
              </a:defRPr>
            </a:pPr>
            <a:r>
              <a:t>3. Project Scope and Technical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601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626C"/>
                </a:solidFill>
                <a:latin typeface="Arial"/>
              </a:defRPr>
            </a:pPr>
            <a:r>
              <a:t>Initial concept – suitable for a simulated warehouse environment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66360" cy="4526280"/>
          </a:xfrm>
          <a:prstGeom prst="roundRect">
            <a:avLst/>
          </a:prstGeom>
          <a:solidFill>
            <a:srgbClr val="F5F6F8"/>
          </a:solidFill>
          <a:ln>
            <a:solidFill>
              <a:srgbClr val="D7D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536192"/>
            <a:ext cx="4800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32D3A"/>
                </a:solidFill>
                <a:latin typeface="Arial"/>
              </a:defRPr>
            </a:pPr>
            <a:r>
              <a:t>What We Plan to Build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029967"/>
            <a:ext cx="480060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D3A"/>
                </a:solidFill>
                <a:latin typeface="Arial"/>
              </a:defRPr>
            </a:pPr>
            <a:r>
              <a:t>• A simulated automated warehouse environment</a:t>
            </a:r>
            <a:br/>
            <a:r>
              <a:t>• Synthetic data from robots, PLCs and sensors</a:t>
            </a:r>
            <a:br/>
            <a:r>
              <a:t>• AI-based anomaly detection</a:t>
            </a:r>
            <a:br/>
            <a:r>
              <a:t>• Vulnerability assessment and prioritized recommendations</a:t>
            </a:r>
            <a:br/>
            <a:r>
              <a:t>• Robot command / movement integrity monitoring</a:t>
            </a:r>
            <a:br/>
            <a:r>
              <a:t>• Alerts or a simple dashboard for the operator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57800" cy="4526280"/>
          </a:xfrm>
          <a:prstGeom prst="roundRect">
            <a:avLst/>
          </a:prstGeom>
          <a:solidFill>
            <a:srgbClr val="F5F6F8"/>
          </a:solidFill>
          <a:ln>
            <a:solidFill>
              <a:srgbClr val="D7D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19088" y="1536192"/>
            <a:ext cx="48920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32D3A"/>
                </a:solidFill>
                <a:latin typeface="Arial"/>
              </a:defRPr>
            </a:pPr>
            <a:r>
              <a:t>Basic Workflow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9088" y="2029967"/>
            <a:ext cx="489204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D3A"/>
                </a:solidFill>
                <a:latin typeface="Arial"/>
              </a:defRPr>
            </a:pPr>
            <a:r>
              <a:t>1. Collect data</a:t>
            </a:r>
            <a:br/>
            <a:br/>
            <a:r>
              <a:t>2. Detect abnormal behavior</a:t>
            </a:r>
            <a:br/>
            <a:br/>
            <a:r>
              <a:t>3. Assess security weaknesses</a:t>
            </a:r>
            <a:br/>
            <a:br/>
            <a:r>
              <a:t>4. Prioritize the most important fixes</a:t>
            </a:r>
            <a:br/>
            <a:br/>
            <a:r>
              <a:t>5. Verify robot behavior</a:t>
            </a:r>
            <a:br/>
            <a:br/>
            <a:r>
              <a:t>6. Generate an alert for the operator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47395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26C"/>
                </a:solidFill>
                <a:latin typeface="Arial"/>
              </a:defRPr>
            </a:pPr>
            <a:r>
              <a:t>AI Warehouse Automation – Cybersecurity Project    |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D3A"/>
                </a:solidFill>
                <a:latin typeface="Arial"/>
              </a:defRPr>
            </a:pPr>
            <a:r>
              <a:t>4. Next Steps – Weeks 1 to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601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626C"/>
                </a:solidFill>
                <a:latin typeface="Arial"/>
              </a:defRPr>
            </a:pPr>
            <a:r>
              <a:t>This is an initial project advance, not the final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429000" cy="4526280"/>
          </a:xfrm>
          <a:prstGeom prst="roundRect">
            <a:avLst/>
          </a:prstGeom>
          <a:solidFill>
            <a:srgbClr val="F5F6F8"/>
          </a:solidFill>
          <a:ln>
            <a:solidFill>
              <a:srgbClr val="D7D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536192"/>
            <a:ext cx="3063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32D3A"/>
                </a:solidFill>
                <a:latin typeface="Arial"/>
              </a:defRPr>
            </a:pPr>
            <a:r>
              <a:t>Week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029967"/>
            <a:ext cx="306324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D3A"/>
                </a:solidFill>
                <a:latin typeface="Arial"/>
              </a:defRPr>
            </a:pPr>
            <a:r>
              <a:t>• Form the team</a:t>
            </a:r>
            <a:br/>
            <a:r>
              <a:t>• Confirm the cybersecurity problem</a:t>
            </a:r>
            <a:br/>
            <a:r>
              <a:t>• Define the warehouse environment</a:t>
            </a:r>
            <a:br/>
            <a:r>
              <a:t>• Identify initial data and tools</a:t>
            </a:r>
            <a:br/>
            <a:r>
              <a:t>• Discuss project scope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71600"/>
            <a:ext cx="3429000" cy="4526280"/>
          </a:xfrm>
          <a:prstGeom prst="roundRect">
            <a:avLst/>
          </a:prstGeom>
          <a:solidFill>
            <a:srgbClr val="F5F6F8"/>
          </a:solidFill>
          <a:ln>
            <a:solidFill>
              <a:srgbClr val="D7D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0288" y="1536192"/>
            <a:ext cx="3063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32D3A"/>
                </a:solidFill>
                <a:latin typeface="Arial"/>
              </a:defRPr>
            </a:pPr>
            <a:r>
              <a:t>Week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0288" y="2029967"/>
            <a:ext cx="306324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D3A"/>
                </a:solidFill>
                <a:latin typeface="Arial"/>
              </a:defRPr>
            </a:pPr>
            <a:r>
              <a:t>• Analyze the problem</a:t>
            </a:r>
            <a:br/>
            <a:r>
              <a:t>• Refine the scope</a:t>
            </a:r>
            <a:br/>
            <a:r>
              <a:t>• Research OT cybersecurity</a:t>
            </a:r>
            <a:br/>
            <a:r>
              <a:t>• Identify data, tools and computing resources</a:t>
            </a:r>
            <a:br/>
            <a:r>
              <a:t>• Begin technical planning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371600"/>
            <a:ext cx="3429000" cy="4526280"/>
          </a:xfrm>
          <a:prstGeom prst="roundRect">
            <a:avLst/>
          </a:prstGeom>
          <a:solidFill>
            <a:srgbClr val="F5F6F8"/>
          </a:solidFill>
          <a:ln>
            <a:solidFill>
              <a:srgbClr val="D7D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47888" y="1536192"/>
            <a:ext cx="3063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32D3A"/>
                </a:solidFill>
                <a:latin typeface="Arial"/>
              </a:defRPr>
            </a:pPr>
            <a:r>
              <a:t>Week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47888" y="2029967"/>
            <a:ext cx="306324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D3A"/>
                </a:solidFill>
                <a:latin typeface="Arial"/>
              </a:defRPr>
            </a:pPr>
            <a:r>
              <a:t>• Finalize the proposal</a:t>
            </a:r>
            <a:br/>
            <a:r>
              <a:t>• Define technical approach</a:t>
            </a:r>
            <a:br/>
            <a:r>
              <a:t>• Establish success metrics</a:t>
            </a:r>
            <a:br/>
            <a:r>
              <a:t>• Assess risks and ethics</a:t>
            </a:r>
            <a:br/>
            <a:r>
              <a:t>• Present proposal and receive instructor feedback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47395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26C"/>
                </a:solidFill>
                <a:latin typeface="Arial"/>
              </a:defRPr>
            </a:pPr>
            <a:r>
              <a:t>AI Warehouse Automation – Cybersecurity Project    |   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